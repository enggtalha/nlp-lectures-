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59" r:id="rId6"/>
    <p:sldId id="261" r:id="rId7"/>
    <p:sldId id="262" r:id="rId8"/>
    <p:sldId id="263" r:id="rId9"/>
    <p:sldId id="264" r:id="rId10"/>
    <p:sldId id="273" r:id="rId11"/>
    <p:sldId id="274" r:id="rId12"/>
    <p:sldId id="275" r:id="rId13"/>
    <p:sldId id="265" r:id="rId14"/>
    <p:sldId id="266" r:id="rId15"/>
    <p:sldId id="267" r:id="rId16"/>
    <p:sldId id="268" r:id="rId17"/>
    <p:sldId id="269" r:id="rId18"/>
    <p:sldId id="270" r:id="rId19"/>
    <p:sldId id="271" r:id="rId20"/>
    <p:sldId id="272"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343" autoAdjust="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217C01CDF565}" type="slidenum">
              <a:rPr lang="en-US" dirty="0"/>
              <a:pPr/>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2647F38-B617-4D2F-AE0A-013F0C4D2C57}" type="datetimeFigureOut">
              <a:rPr lang="en-US" dirty="0"/>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dirty="0"/>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11/27/2024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11/27/2024</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8" r:id="rId2"/>
    <p:sldLayoutId id="2147483651" r:id="rId3"/>
    <p:sldLayoutId id="2147483669"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6" r:id="rId14"/>
    <p:sldLayoutId id="2147483667" r:id="rId15"/>
    <p:sldLayoutId id="2147483658" r:id="rId16"/>
    <p:sldLayoutId id="2147483659"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www.kaggle.com/code/talhaahmed9090/vectorization-using-word-embedding"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Vectorization  </a:t>
            </a:r>
            <a:endParaRPr lang="en-US" dirty="0"/>
          </a:p>
        </p:txBody>
      </p:sp>
      <p:sp>
        <p:nvSpPr>
          <p:cNvPr id="3" name="Subtitle 2"/>
          <p:cNvSpPr>
            <a:spLocks noGrp="1"/>
          </p:cNvSpPr>
          <p:nvPr>
            <p:ph type="subTitle" idx="1"/>
          </p:nvPr>
        </p:nvSpPr>
        <p:spPr/>
        <p:txBody>
          <a:bodyPr>
            <a:normAutofit/>
          </a:bodyPr>
          <a:lstStyle/>
          <a:p>
            <a:pPr algn="l"/>
            <a:r>
              <a:rPr lang="en-US" dirty="0" smtClean="0"/>
              <a:t/>
            </a:r>
            <a:br>
              <a:rPr lang="en-US" dirty="0" smtClean="0"/>
            </a:br>
            <a:endParaRPr lang="en-US" dirty="0"/>
          </a:p>
        </p:txBody>
      </p:sp>
    </p:spTree>
    <p:extLst>
      <p:ext uri="{BB962C8B-B14F-4D97-AF65-F5344CB8AC3E}">
        <p14:creationId xmlns:p14="http://schemas.microsoft.com/office/powerpoint/2010/main" val="23471321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TF/IDF</a:t>
            </a:r>
            <a:endParaRPr lang="en-US" dirty="0"/>
          </a:p>
        </p:txBody>
      </p:sp>
      <p:sp>
        <p:nvSpPr>
          <p:cNvPr id="3" name="Content Placeholder 2"/>
          <p:cNvSpPr>
            <a:spLocks noGrp="1"/>
          </p:cNvSpPr>
          <p:nvPr>
            <p:ph idx="1"/>
          </p:nvPr>
        </p:nvSpPr>
        <p:spPr>
          <a:xfrm>
            <a:off x="1295400" y="2508069"/>
            <a:ext cx="9860279" cy="3367799"/>
          </a:xfrm>
        </p:spPr>
        <p:txBody>
          <a:bodyPr>
            <a:normAutofit fontScale="85000" lnSpcReduction="20000"/>
          </a:bodyPr>
          <a:lstStyle/>
          <a:p>
            <a:pPr>
              <a:buFont typeface="Arial" panose="020B0604020202020204" pitchFamily="34" charset="0"/>
              <a:buChar char="•"/>
            </a:pPr>
            <a:r>
              <a:rPr lang="en-US" b="1" dirty="0"/>
              <a:t>Term Frequency (TF):</a:t>
            </a:r>
            <a:r>
              <a:rPr lang="en-US" dirty="0"/>
              <a:t> Measures how often a word appears in a document</a:t>
            </a:r>
            <a:r>
              <a:rPr lang="en-US" dirty="0" smtClean="0"/>
              <a:t>.</a:t>
            </a:r>
          </a:p>
          <a:p>
            <a:pPr>
              <a:buFont typeface="Arial" panose="020B0604020202020204" pitchFamily="34" charset="0"/>
              <a:buChar char="•"/>
            </a:pPr>
            <a:endParaRPr lang="en-US" dirty="0"/>
          </a:p>
          <a:p>
            <a:pPr>
              <a:buFont typeface="Arial" panose="020B0604020202020204" pitchFamily="34" charset="0"/>
              <a:buChar char="•"/>
            </a:pPr>
            <a:r>
              <a:rPr lang="en-US" b="1" dirty="0"/>
              <a:t>Inverse Document Frequency (IDF):</a:t>
            </a:r>
            <a:r>
              <a:rPr lang="en-US" dirty="0"/>
              <a:t> Measures how important a word is across multiple documents</a:t>
            </a:r>
            <a:r>
              <a:rPr lang="en-US" dirty="0" smtClean="0"/>
              <a:t>.</a:t>
            </a:r>
            <a:endParaRPr lang="en-US" dirty="0"/>
          </a:p>
          <a:p>
            <a:pPr marL="0" indent="0">
              <a:buNone/>
            </a:pPr>
            <a:r>
              <a:rPr lang="en-US" b="1" dirty="0"/>
              <a:t>Formula</a:t>
            </a:r>
            <a:r>
              <a:rPr lang="en-US" b="1" dirty="0" smtClean="0"/>
              <a:t>:</a:t>
            </a:r>
          </a:p>
          <a:p>
            <a:pPr algn="ctr"/>
            <a:r>
              <a:rPr lang="en-US" dirty="0"/>
              <a:t>TF-IDF(</a:t>
            </a:r>
            <a:r>
              <a:rPr lang="en-US" dirty="0" err="1"/>
              <a:t>t,d</a:t>
            </a:r>
            <a:r>
              <a:rPr lang="en-US" dirty="0"/>
              <a:t>)=TF(</a:t>
            </a:r>
            <a:r>
              <a:rPr lang="en-US" dirty="0" err="1"/>
              <a:t>t,d</a:t>
            </a:r>
            <a:r>
              <a:rPr lang="en-US" dirty="0"/>
              <a:t>)×IDF(</a:t>
            </a:r>
            <a:r>
              <a:rPr lang="en-US" dirty="0" err="1"/>
              <a:t>t,D</a:t>
            </a:r>
            <a:r>
              <a:rPr lang="en-US" dirty="0"/>
              <a:t>)</a:t>
            </a:r>
          </a:p>
          <a:p>
            <a:pPr>
              <a:buFont typeface="Arial" panose="020B0604020202020204" pitchFamily="34" charset="0"/>
              <a:buChar char="•"/>
            </a:pPr>
            <a:r>
              <a:rPr lang="en-US" dirty="0" smtClean="0"/>
              <a:t>t </a:t>
            </a:r>
            <a:r>
              <a:rPr lang="en-US" dirty="0"/>
              <a:t>= term (word)</a:t>
            </a:r>
          </a:p>
          <a:p>
            <a:pPr>
              <a:buFont typeface="Arial" panose="020B0604020202020204" pitchFamily="34" charset="0"/>
              <a:buChar char="•"/>
            </a:pPr>
            <a:r>
              <a:rPr lang="en-US" dirty="0"/>
              <a:t>d</a:t>
            </a:r>
            <a:r>
              <a:rPr lang="en-US" dirty="0" smtClean="0"/>
              <a:t> </a:t>
            </a:r>
            <a:r>
              <a:rPr lang="en-US" dirty="0"/>
              <a:t>= a document</a:t>
            </a:r>
          </a:p>
          <a:p>
            <a:pPr>
              <a:buFont typeface="Arial" panose="020B0604020202020204" pitchFamily="34" charset="0"/>
              <a:buChar char="•"/>
            </a:pPr>
            <a:r>
              <a:rPr lang="en-US" dirty="0" smtClean="0"/>
              <a:t>D </a:t>
            </a:r>
            <a:r>
              <a:rPr lang="en-US" dirty="0"/>
              <a:t>= the entire document corpus</a:t>
            </a:r>
          </a:p>
          <a:p>
            <a:endParaRPr lang="en-US" dirty="0"/>
          </a:p>
        </p:txBody>
      </p:sp>
      <p:sp>
        <p:nvSpPr>
          <p:cNvPr id="4" name="Rectangle 1"/>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 = term (word)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ddd = a document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DDD = the entire document corpus </a:t>
            </a:r>
          </a:p>
        </p:txBody>
      </p:sp>
    </p:spTree>
    <p:extLst>
      <p:ext uri="{BB962C8B-B14F-4D97-AF65-F5344CB8AC3E}">
        <p14:creationId xmlns:p14="http://schemas.microsoft.com/office/powerpoint/2010/main" val="38143468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 Frequency (TF)</a:t>
            </a:r>
          </a:p>
        </p:txBody>
      </p:sp>
      <p:sp>
        <p:nvSpPr>
          <p:cNvPr id="3" name="Content Placeholder 2"/>
          <p:cNvSpPr>
            <a:spLocks noGrp="1"/>
          </p:cNvSpPr>
          <p:nvPr>
            <p:ph idx="1"/>
          </p:nvPr>
        </p:nvSpPr>
        <p:spPr/>
        <p:txBody>
          <a:bodyPr>
            <a:normAutofit/>
          </a:bodyPr>
          <a:lstStyle/>
          <a:p>
            <a:r>
              <a:rPr lang="en-US" b="1" dirty="0"/>
              <a:t>Definition:</a:t>
            </a:r>
            <a:r>
              <a:rPr lang="en-US" dirty="0"/>
              <a:t> Number of times a term </a:t>
            </a:r>
            <a:r>
              <a:rPr lang="en-US" dirty="0" err="1"/>
              <a:t>ttt</a:t>
            </a:r>
            <a:r>
              <a:rPr lang="en-US" dirty="0"/>
              <a:t> appears in a document </a:t>
            </a:r>
            <a:r>
              <a:rPr lang="en-US" dirty="0" err="1"/>
              <a:t>ddd</a:t>
            </a:r>
            <a:r>
              <a:rPr lang="en-US" dirty="0"/>
              <a:t>, divided by the total number of terms in </a:t>
            </a:r>
            <a:r>
              <a:rPr lang="en-US" dirty="0" err="1"/>
              <a:t>ddd</a:t>
            </a:r>
            <a:r>
              <a:rPr lang="en-US" dirty="0" smtClean="0"/>
              <a:t>.</a:t>
            </a:r>
          </a:p>
          <a:p>
            <a:pPr marL="0" indent="0">
              <a:buNone/>
            </a:pPr>
            <a:r>
              <a:rPr lang="en-US" b="1" dirty="0" smtClean="0"/>
              <a:t>Formula : </a:t>
            </a:r>
          </a:p>
          <a:p>
            <a:pPr marL="0" indent="0" algn="ctr">
              <a:buNone/>
            </a:pPr>
            <a:r>
              <a:rPr lang="en-US" dirty="0"/>
              <a:t>TF(</a:t>
            </a:r>
            <a:r>
              <a:rPr lang="en-US" dirty="0" err="1"/>
              <a:t>t,d</a:t>
            </a:r>
            <a:r>
              <a:rPr lang="en-US" dirty="0"/>
              <a:t>)=total terms in </a:t>
            </a:r>
            <a:r>
              <a:rPr lang="en-US" dirty="0" err="1"/>
              <a:t>dcount</a:t>
            </a:r>
            <a:r>
              <a:rPr lang="en-US" dirty="0"/>
              <a:t> of term t in d</a:t>
            </a:r>
            <a:r>
              <a:rPr lang="en-US" dirty="0" smtClean="0"/>
              <a:t>​</a:t>
            </a:r>
          </a:p>
          <a:p>
            <a:r>
              <a:rPr lang="en-US" sz="2000" dirty="0"/>
              <a:t>Document: "I love natural language processing."</a:t>
            </a:r>
          </a:p>
          <a:p>
            <a:r>
              <a:rPr lang="en-US" sz="2000" dirty="0"/>
              <a:t>Total words: 5</a:t>
            </a:r>
          </a:p>
          <a:p>
            <a:r>
              <a:rPr lang="en-US" sz="2000" dirty="0"/>
              <a:t>TF("love", Document) = 1/5 = 0.2</a:t>
            </a:r>
          </a:p>
          <a:p>
            <a:pPr marL="0" indent="0">
              <a:buNone/>
            </a:pPr>
            <a:endParaRPr lang="en-US" dirty="0"/>
          </a:p>
          <a:p>
            <a:pPr marL="0" indent="0" algn="ctr">
              <a:buNone/>
            </a:pPr>
            <a:endParaRPr lang="en-US" b="1" dirty="0"/>
          </a:p>
        </p:txBody>
      </p:sp>
    </p:spTree>
    <p:extLst>
      <p:ext uri="{BB962C8B-B14F-4D97-AF65-F5344CB8AC3E}">
        <p14:creationId xmlns:p14="http://schemas.microsoft.com/office/powerpoint/2010/main" val="2809857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 Frequency (TF)</a:t>
            </a:r>
          </a:p>
        </p:txBody>
      </p:sp>
      <p:sp>
        <p:nvSpPr>
          <p:cNvPr id="3" name="Content Placeholder 2"/>
          <p:cNvSpPr>
            <a:spLocks noGrp="1"/>
          </p:cNvSpPr>
          <p:nvPr>
            <p:ph idx="1"/>
          </p:nvPr>
        </p:nvSpPr>
        <p:spPr/>
        <p:txBody>
          <a:bodyPr>
            <a:normAutofit fontScale="85000" lnSpcReduction="20000"/>
          </a:bodyPr>
          <a:lstStyle/>
          <a:p>
            <a:r>
              <a:rPr lang="en-US" b="1" dirty="0"/>
              <a:t>Definition:</a:t>
            </a:r>
            <a:r>
              <a:rPr lang="en-US" dirty="0"/>
              <a:t> Reduces the weight of common words by calculating the importance of a term across the entire document corpus</a:t>
            </a:r>
            <a:r>
              <a:rPr lang="en-US" dirty="0" smtClean="0"/>
              <a:t>.</a:t>
            </a:r>
          </a:p>
          <a:p>
            <a:endParaRPr lang="en-US" dirty="0" smtClean="0"/>
          </a:p>
          <a:p>
            <a:pPr marL="0" indent="0">
              <a:buNone/>
            </a:pPr>
            <a:r>
              <a:rPr lang="en-US" b="1" dirty="0" smtClean="0"/>
              <a:t>Formula : </a:t>
            </a:r>
          </a:p>
          <a:p>
            <a:pPr marL="0" indent="0" algn="ctr">
              <a:buNone/>
            </a:pPr>
            <a:r>
              <a:rPr lang="en-US" sz="2000" dirty="0" smtClean="0"/>
              <a:t>IDF(</a:t>
            </a:r>
            <a:r>
              <a:rPr lang="en-US" sz="2000" dirty="0" err="1" smtClean="0"/>
              <a:t>t,D</a:t>
            </a:r>
            <a:r>
              <a:rPr lang="en-US" sz="2000" dirty="0" smtClean="0"/>
              <a:t>)   =   log</a:t>
            </a:r>
            <a:r>
              <a:rPr lang="en-US" sz="2000" dirty="0"/>
              <a:t>⁡(Total </a:t>
            </a:r>
            <a:r>
              <a:rPr lang="en-US" sz="2000" dirty="0" smtClean="0"/>
              <a:t>documents)/(1+Documents</a:t>
            </a:r>
            <a:r>
              <a:rPr lang="en-US" sz="2000" dirty="0"/>
              <a:t> with term t</a:t>
            </a:r>
            <a:r>
              <a:rPr lang="en-US" sz="2000" dirty="0" smtClean="0"/>
              <a:t>)</a:t>
            </a:r>
          </a:p>
          <a:p>
            <a:pPr marL="0" indent="0" algn="ctr">
              <a:buNone/>
            </a:pPr>
            <a:endParaRPr lang="en-US" sz="2000" dirty="0" smtClean="0"/>
          </a:p>
          <a:p>
            <a:r>
              <a:rPr lang="en-US" sz="2000" dirty="0"/>
              <a:t>5 documents, term "love" appears in 2</a:t>
            </a:r>
            <a:r>
              <a:rPr lang="en-US" sz="2000" dirty="0" smtClean="0"/>
              <a:t>.</a:t>
            </a:r>
          </a:p>
          <a:p>
            <a:r>
              <a:rPr lang="da-DK" sz="2000" dirty="0"/>
              <a:t>IDF("love") = log(5/(1+2)) = 0.22</a:t>
            </a:r>
            <a:endParaRPr lang="en-US" sz="2000" dirty="0"/>
          </a:p>
          <a:p>
            <a:pPr marL="0" indent="0">
              <a:buNone/>
            </a:pPr>
            <a:r>
              <a:rPr lang="en-US" sz="2000" dirty="0" smtClean="0"/>
              <a:t/>
            </a:r>
            <a:br>
              <a:rPr lang="en-US" sz="2000" dirty="0" smtClean="0"/>
            </a:br>
            <a:endParaRPr lang="en-US" sz="2000" b="1" dirty="0"/>
          </a:p>
        </p:txBody>
      </p:sp>
    </p:spTree>
    <p:extLst>
      <p:ext uri="{BB962C8B-B14F-4D97-AF65-F5344CB8AC3E}">
        <p14:creationId xmlns:p14="http://schemas.microsoft.com/office/powerpoint/2010/main" val="21661963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TF-IDF Example Calculation</a:t>
            </a:r>
          </a:p>
        </p:txBody>
      </p:sp>
      <p:sp>
        <p:nvSpPr>
          <p:cNvPr id="4" name="Rectangle 1"/>
          <p:cNvSpPr>
            <a:spLocks noGrp="1" noChangeArrowheads="1"/>
          </p:cNvSpPr>
          <p:nvPr>
            <p:ph idx="1"/>
          </p:nvPr>
        </p:nvSpPr>
        <p:spPr bwMode="auto">
          <a:xfrm>
            <a:off x="1295401" y="3339237"/>
            <a:ext cx="10095410"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Document 1:</a:t>
            </a:r>
            <a:r>
              <a:rPr kumimoji="0" lang="en-US" altLang="en-US" sz="1800" b="0" i="0" u="none" strike="noStrike" cap="none" normalizeH="0" baseline="0" dirty="0" smtClean="0">
                <a:ln>
                  <a:noFill/>
                </a:ln>
                <a:solidFill>
                  <a:schemeClr val="tx1"/>
                </a:solidFill>
                <a:effectLst/>
                <a:latin typeface="Arial" panose="020B0604020202020204" pitchFamily="34" charset="0"/>
              </a:rPr>
              <a:t> "I love natural language processing.“</a:t>
            </a:r>
          </a:p>
          <a:p>
            <a:pPr marL="0" marR="0" lvl="0" indent="0" algn="ctr"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Document 2:</a:t>
            </a:r>
            <a:r>
              <a:rPr kumimoji="0" lang="en-US" altLang="en-US" sz="1800" b="0" i="0" u="none" strike="noStrike" cap="none" normalizeH="0" baseline="0" dirty="0" smtClean="0">
                <a:ln>
                  <a:noFill/>
                </a:ln>
                <a:solidFill>
                  <a:schemeClr val="tx1"/>
                </a:solidFill>
                <a:effectLst/>
                <a:latin typeface="Arial" panose="020B0604020202020204" pitchFamily="34" charset="0"/>
              </a:rPr>
              <a:t> "Natural language processing is fun.“</a:t>
            </a:r>
          </a:p>
          <a:p>
            <a:pPr marL="0" marR="0" lvl="0" indent="0" algn="ctr"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Document 3:</a:t>
            </a:r>
            <a:r>
              <a:rPr kumimoji="0" lang="en-US" altLang="en-US" sz="1800" b="0" i="0" u="none" strike="noStrike" cap="none" normalizeH="0" baseline="0" dirty="0" smtClean="0">
                <a:ln>
                  <a:noFill/>
                </a:ln>
                <a:solidFill>
                  <a:schemeClr val="tx1"/>
                </a:solidFill>
                <a:effectLst/>
                <a:latin typeface="Arial" panose="020B0604020202020204" pitchFamily="34" charset="0"/>
              </a:rPr>
              <a:t> "I enjoy learning about data science."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74811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Step-by-Step Example:</a:t>
            </a:r>
            <a:endParaRPr lang="en-US" dirty="0"/>
          </a:p>
        </p:txBody>
      </p:sp>
      <p:sp>
        <p:nvSpPr>
          <p:cNvPr id="4" name="Rectangle 1"/>
          <p:cNvSpPr>
            <a:spLocks noGrp="1" noChangeArrowheads="1"/>
          </p:cNvSpPr>
          <p:nvPr>
            <p:ph idx="1"/>
          </p:nvPr>
        </p:nvSpPr>
        <p:spPr bwMode="auto">
          <a:xfrm>
            <a:off x="1295401" y="2582107"/>
            <a:ext cx="10095410" cy="3268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en-US" b="1" dirty="0" smtClean="0"/>
              <a:t>TF </a:t>
            </a:r>
            <a:r>
              <a:rPr lang="en-US" b="1" dirty="0"/>
              <a:t>for Document 1:</a:t>
            </a:r>
            <a:endParaRPr lang="en-US" dirty="0"/>
          </a:p>
          <a:p>
            <a:pPr lvl="1"/>
            <a:r>
              <a:rPr lang="en-US" dirty="0"/>
              <a:t>TF("love", Document 1) = 1/5 = </a:t>
            </a:r>
            <a:r>
              <a:rPr lang="en-US" dirty="0" smtClean="0"/>
              <a:t>0.2</a:t>
            </a:r>
          </a:p>
          <a:p>
            <a:pPr marL="0" indent="0">
              <a:buNone/>
            </a:pPr>
            <a:r>
              <a:rPr lang="en-US" b="1" dirty="0"/>
              <a:t>IDF for the word "love"</a:t>
            </a:r>
            <a:r>
              <a:rPr lang="en-US" dirty="0"/>
              <a:t> across all documents:</a:t>
            </a:r>
          </a:p>
          <a:p>
            <a:pPr lvl="1"/>
            <a:r>
              <a:rPr lang="en-US" dirty="0" smtClean="0"/>
              <a:t>IDF</a:t>
            </a:r>
            <a:r>
              <a:rPr lang="en-US" dirty="0"/>
              <a:t>("love") = log(3/(1+1)) = </a:t>
            </a:r>
            <a:r>
              <a:rPr lang="en-US" dirty="0" smtClean="0"/>
              <a:t>0.18</a:t>
            </a:r>
            <a:endParaRPr lang="en-US" dirty="0"/>
          </a:p>
          <a:p>
            <a:pPr marL="0" indent="0">
              <a:buNone/>
            </a:pPr>
            <a:r>
              <a:rPr lang="en-US" b="1" dirty="0"/>
              <a:t>TF-IDF("love", Document 1</a:t>
            </a:r>
            <a:r>
              <a:rPr lang="en-US" b="1" dirty="0" smtClean="0"/>
              <a:t>):</a:t>
            </a:r>
          </a:p>
          <a:p>
            <a:pPr marL="0" indent="0">
              <a:buNone/>
            </a:pPr>
            <a:r>
              <a:rPr lang="en-US" dirty="0" smtClean="0"/>
              <a:t> </a:t>
            </a:r>
            <a:r>
              <a:rPr lang="en-US" sz="2000" dirty="0"/>
              <a:t>TF-IDF=0.2×0.18=0.036\text{TF-IDF} = 0.2 \times 0.18 = 0.036TF-IDF=0.2×0.18=0.036</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70100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Matrix of TF/IDF SCORE</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95402" y="2638698"/>
            <a:ext cx="9601195" cy="3448594"/>
          </a:xfrm>
        </p:spPr>
      </p:pic>
    </p:spTree>
    <p:extLst>
      <p:ext uri="{BB962C8B-B14F-4D97-AF65-F5344CB8AC3E}">
        <p14:creationId xmlns:p14="http://schemas.microsoft.com/office/powerpoint/2010/main" val="24588478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Word </a:t>
            </a:r>
            <a:r>
              <a:rPr lang="en-US" b="1" dirty="0" err="1" smtClean="0"/>
              <a:t>Embeding</a:t>
            </a:r>
            <a:r>
              <a:rPr lang="en-US" b="1" dirty="0" smtClean="0"/>
              <a:t> </a:t>
            </a:r>
            <a:endParaRPr lang="en-US" b="1" dirty="0"/>
          </a:p>
        </p:txBody>
      </p:sp>
      <p:sp>
        <p:nvSpPr>
          <p:cNvPr id="3" name="Content Placeholder 2"/>
          <p:cNvSpPr>
            <a:spLocks noGrp="1"/>
          </p:cNvSpPr>
          <p:nvPr>
            <p:ph idx="1"/>
          </p:nvPr>
        </p:nvSpPr>
        <p:spPr/>
        <p:txBody>
          <a:bodyPr/>
          <a:lstStyle/>
          <a:p>
            <a:r>
              <a:rPr lang="en-US" dirty="0"/>
              <a:t>is a technique used in Natural Language Processing (NLP) to represent words as continuous vectors of real numbers in a lower-dimensional space. These vectors capture the semantic meaning of words, allowing words with similar meanings to have similar vector representations. Word </a:t>
            </a:r>
            <a:r>
              <a:rPr lang="en-US" dirty="0" err="1"/>
              <a:t>embeddings</a:t>
            </a:r>
            <a:r>
              <a:rPr lang="en-US" dirty="0"/>
              <a:t> are learned from large text corpora and enable models to understand the context and relationships between words more effectively than traditional methods like one-hot encoding. Popular word embedding methods include Word2Vec, </a:t>
            </a:r>
            <a:r>
              <a:rPr lang="en-US" dirty="0" err="1"/>
              <a:t>GloVe</a:t>
            </a:r>
            <a:r>
              <a:rPr lang="en-US" dirty="0"/>
              <a:t>, and </a:t>
            </a:r>
            <a:r>
              <a:rPr lang="en-US" dirty="0" err="1"/>
              <a:t>FastText</a:t>
            </a:r>
            <a:r>
              <a:rPr lang="en-US" dirty="0"/>
              <a:t>.</a:t>
            </a:r>
          </a:p>
        </p:txBody>
      </p:sp>
    </p:spTree>
    <p:extLst>
      <p:ext uri="{BB962C8B-B14F-4D97-AF65-F5344CB8AC3E}">
        <p14:creationId xmlns:p14="http://schemas.microsoft.com/office/powerpoint/2010/main" val="11064813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b="1" dirty="0"/>
              <a:t>Word2Vec</a:t>
            </a:r>
            <a:endParaRPr lang="en-US" dirty="0"/>
          </a:p>
        </p:txBody>
      </p:sp>
      <p:sp>
        <p:nvSpPr>
          <p:cNvPr id="4" name="Rectangle 1"/>
          <p:cNvSpPr>
            <a:spLocks noGrp="1" noChangeArrowheads="1"/>
          </p:cNvSpPr>
          <p:nvPr>
            <p:ph idx="1"/>
          </p:nvPr>
        </p:nvSpPr>
        <p:spPr bwMode="auto">
          <a:xfrm>
            <a:off x="1295401" y="2785241"/>
            <a:ext cx="10082348"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Predictive (Shallow Neural Network)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Learns word vectors by predicting a word based on its context or vice versa.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CBOW (Continuous Bag of Words)</a:t>
            </a:r>
            <a:r>
              <a:rPr kumimoji="0" lang="en-US" altLang="en-US" sz="1800" b="0" i="0" u="none" strike="noStrike" cap="none" normalizeH="0" baseline="0" dirty="0" smtClean="0">
                <a:ln>
                  <a:noFill/>
                </a:ln>
                <a:solidFill>
                  <a:schemeClr val="tx1"/>
                </a:solidFill>
                <a:effectLst/>
                <a:latin typeface="Arial" panose="020B0604020202020204" pitchFamily="34" charset="0"/>
              </a:rPr>
              <a:t>: Predicts the current word from surrounding context words.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Skip-Gram</a:t>
            </a:r>
            <a:r>
              <a:rPr kumimoji="0" lang="en-US" altLang="en-US" sz="1800" b="0" i="0" u="none" strike="noStrike" cap="none" normalizeH="0" baseline="0" dirty="0" smtClean="0">
                <a:ln>
                  <a:noFill/>
                </a:ln>
                <a:solidFill>
                  <a:schemeClr val="tx1"/>
                </a:solidFill>
                <a:effectLst/>
                <a:latin typeface="Arial" panose="020B0604020202020204" pitchFamily="34" charset="0"/>
              </a:rPr>
              <a:t>: Predicts surrounding words from the current word.</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"King" – "Man" + "Woman" ≈ "Queen“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Gensim</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TensorFlow</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Keras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8186127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Gensim</a:t>
            </a:r>
            <a:endParaRPr lang="en-US" dirty="0"/>
          </a:p>
        </p:txBody>
      </p:sp>
      <p:sp>
        <p:nvSpPr>
          <p:cNvPr id="4" name="Rectangle 1"/>
          <p:cNvSpPr>
            <a:spLocks noGrp="1" noChangeArrowheads="1"/>
          </p:cNvSpPr>
          <p:nvPr>
            <p:ph idx="1"/>
          </p:nvPr>
        </p:nvSpPr>
        <p:spPr bwMode="auto">
          <a:xfrm>
            <a:off x="1295401" y="3754737"/>
            <a:ext cx="10082348"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spcBef>
                <a:spcPct val="0"/>
              </a:spcBef>
              <a:spcAft>
                <a:spcPct val="0"/>
              </a:spcAft>
              <a:buClrTx/>
              <a:buSzTx/>
              <a:buNone/>
            </a:pPr>
            <a:r>
              <a:rPr lang="en-US" sz="1800" b="1" dirty="0" err="1"/>
              <a:t>Gensim</a:t>
            </a:r>
            <a:r>
              <a:rPr lang="en-US" sz="1800" dirty="0"/>
              <a:t> is an open-source Python library specifically designed for </a:t>
            </a:r>
            <a:r>
              <a:rPr lang="en-US" sz="1800" b="1" dirty="0"/>
              <a:t>unsupervised topic modeling</a:t>
            </a:r>
            <a:r>
              <a:rPr lang="en-US" sz="1800" dirty="0"/>
              <a:t> and </a:t>
            </a:r>
            <a:r>
              <a:rPr lang="en-US" sz="1800" b="1" dirty="0"/>
              <a:t>natural language processing</a:t>
            </a:r>
            <a:r>
              <a:rPr lang="en-US" sz="1800" dirty="0"/>
              <a:t> (NLP). It is widely used for tasks like extracting semantic meaning from text, generating word </a:t>
            </a:r>
            <a:r>
              <a:rPr lang="en-US" sz="1800" dirty="0" err="1"/>
              <a:t>embeddings</a:t>
            </a:r>
            <a:r>
              <a:rPr lang="en-US" sz="1800" dirty="0"/>
              <a:t>, performing topic modeling, and building document similarity models.</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523301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Key Features </a:t>
            </a:r>
            <a:endParaRPr lang="en-US" dirty="0"/>
          </a:p>
        </p:txBody>
      </p:sp>
      <p:sp>
        <p:nvSpPr>
          <p:cNvPr id="8" name="Rectangle 5"/>
          <p:cNvSpPr>
            <a:spLocks noGrp="1" noChangeArrowheads="1"/>
          </p:cNvSpPr>
          <p:nvPr>
            <p:ph idx="1"/>
          </p:nvPr>
        </p:nvSpPr>
        <p:spPr bwMode="auto">
          <a:xfrm>
            <a:off x="784225" y="3025726"/>
            <a:ext cx="10789466"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Word </a:t>
            </a:r>
            <a:r>
              <a:rPr kumimoji="0" lang="en-US" altLang="en-US" sz="1800" b="1"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Gensim</a:t>
            </a:r>
            <a:r>
              <a:rPr kumimoji="0" lang="en-US" altLang="en-US" sz="1800" b="0" i="0" u="none" strike="noStrike" cap="none" normalizeH="0" baseline="0" dirty="0" smtClean="0">
                <a:ln>
                  <a:noFill/>
                </a:ln>
                <a:solidFill>
                  <a:schemeClr val="tx1"/>
                </a:solidFill>
                <a:effectLst/>
                <a:latin typeface="Arial" panose="020B0604020202020204" pitchFamily="34" charset="0"/>
              </a:rPr>
              <a:t> provides models like Word2Vec and </a:t>
            </a:r>
            <a:r>
              <a:rPr kumimoji="0" lang="en-US" altLang="en-US" sz="1800" b="0" i="0" u="none" strike="noStrike" cap="none" normalizeH="0" baseline="0" dirty="0" err="1" smtClean="0">
                <a:ln>
                  <a:noFill/>
                </a:ln>
                <a:solidFill>
                  <a:schemeClr val="tx1"/>
                </a:solidFill>
                <a:effectLst/>
                <a:latin typeface="Arial" panose="020B0604020202020204" pitchFamily="34" charset="0"/>
              </a:rPr>
              <a:t>FastText</a:t>
            </a:r>
            <a:r>
              <a:rPr kumimoji="0" lang="en-US" altLang="en-US" sz="1800" b="0" i="0" u="none" strike="noStrike" cap="none" normalizeH="0" baseline="0" dirty="0" smtClean="0">
                <a:ln>
                  <a:noFill/>
                </a:ln>
                <a:solidFill>
                  <a:schemeClr val="tx1"/>
                </a:solidFill>
                <a:effectLst/>
                <a:latin typeface="Arial" panose="020B0604020202020204" pitchFamily="34" charset="0"/>
              </a:rPr>
              <a:t> for dense vector representation of words and documents.</a:t>
            </a:r>
          </a:p>
          <a:p>
            <a:pPr marL="0" marR="0" lvl="0" indent="0" algn="l" defTabSz="914400" rtl="0" eaLnBrk="0" fontAlgn="base" latinLnBrk="0" hangingPunct="0">
              <a:lnSpc>
                <a:spcPct val="100000"/>
              </a:lnSpc>
              <a:spcBef>
                <a:spcPct val="0"/>
              </a:spcBef>
              <a:spcAft>
                <a:spcPct val="0"/>
              </a:spcAft>
              <a:buClrTx/>
              <a:buSzTx/>
              <a:buNone/>
              <a:tabLst/>
            </a:pPr>
            <a:r>
              <a:rPr lang="en-US" altLang="en-US" sz="1800" b="1" dirty="0" smtClean="0">
                <a:solidFill>
                  <a:schemeClr val="tx1"/>
                </a:solidFill>
                <a:latin typeface="Arial" panose="020B0604020202020204" pitchFamily="34" charset="0"/>
              </a:rPr>
              <a:t>T</a:t>
            </a:r>
            <a:r>
              <a:rPr kumimoji="0" lang="en-US" altLang="en-US" sz="1800" b="1" i="0" u="none" strike="noStrike" cap="none" normalizeH="0" baseline="0" dirty="0" smtClean="0">
                <a:ln>
                  <a:noFill/>
                </a:ln>
                <a:solidFill>
                  <a:schemeClr val="tx1"/>
                </a:solidFill>
                <a:effectLst/>
                <a:latin typeface="Arial" panose="020B0604020202020204" pitchFamily="34" charset="0"/>
              </a:rPr>
              <a:t>opic Modeling</a:t>
            </a:r>
            <a:r>
              <a:rPr kumimoji="0" lang="en-US" altLang="en-US" sz="1800" b="0" i="0" u="none" strike="noStrike" cap="none" normalizeH="0" baseline="0" dirty="0" smtClean="0">
                <a:ln>
                  <a:noFill/>
                </a:ln>
                <a:solidFill>
                  <a:schemeClr val="tx1"/>
                </a:solidFill>
                <a:effectLst/>
                <a:latin typeface="Arial" panose="020B0604020202020204" pitchFamily="34" charset="0"/>
              </a:rPr>
              <a:t>: It includes LDA and LSA for topic discovery and dimensionality reduction in text.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Efficient Memory Usage</a:t>
            </a:r>
            <a:r>
              <a:rPr kumimoji="0" lang="en-US" altLang="en-US" sz="1800" b="0" i="0" u="none" strike="noStrike" cap="none" normalizeH="0" baseline="0" dirty="0" smtClean="0">
                <a:ln>
                  <a:noFill/>
                </a:ln>
                <a:solidFill>
                  <a:schemeClr val="tx1"/>
                </a:solidFill>
                <a:effectLst/>
                <a:latin typeface="Arial" panose="020B0604020202020204" pitchFamily="34" charset="0"/>
              </a:rPr>
              <a:t>: Optimized to process large text datasets in chunks without needing full memory.</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Similarity Queries</a:t>
            </a:r>
            <a:r>
              <a:rPr kumimoji="0" lang="en-US" altLang="en-US" sz="1800" b="0" i="0" u="none" strike="noStrike" cap="none" normalizeH="0" baseline="0" dirty="0" smtClean="0">
                <a:ln>
                  <a:noFill/>
                </a:ln>
                <a:solidFill>
                  <a:schemeClr val="tx1"/>
                </a:solidFill>
                <a:effectLst/>
                <a:latin typeface="Arial" panose="020B0604020202020204" pitchFamily="34" charset="0"/>
              </a:rPr>
              <a:t>: Calculates document similarities using TF-IDF, BM25, and LSI for retrieval tasks.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Pre-trained Models</a:t>
            </a:r>
            <a:r>
              <a:rPr kumimoji="0" lang="en-US" altLang="en-US" sz="1800" b="0" i="0" u="none" strike="noStrike" cap="none" normalizeH="0" baseline="0" dirty="0" smtClean="0">
                <a:ln>
                  <a:noFill/>
                </a:ln>
                <a:solidFill>
                  <a:schemeClr val="tx1"/>
                </a:solidFill>
                <a:effectLst/>
                <a:latin typeface="Arial" panose="020B0604020202020204" pitchFamily="34" charset="0"/>
              </a:rPr>
              <a:t>: Offers access to pre-trained models like Google’s Word2Vec for direct use in NLP.</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Extensibility</a:t>
            </a:r>
            <a:r>
              <a:rPr kumimoji="0" lang="en-US" altLang="en-US" sz="1800" b="0" i="0" u="none" strike="noStrike" cap="none" normalizeH="0" baseline="0" dirty="0" smtClean="0">
                <a:ln>
                  <a:noFill/>
                </a:ln>
                <a:solidFill>
                  <a:schemeClr val="tx1"/>
                </a:solidFill>
                <a:effectLst/>
                <a:latin typeface="Arial" panose="020B0604020202020204" pitchFamily="34" charset="0"/>
              </a:rPr>
              <a:t>: Supports custom algorithms and integrates with libraries like </a:t>
            </a:r>
            <a:r>
              <a:rPr kumimoji="0" lang="en-US" altLang="en-US" sz="1800" b="0" i="0" u="none" strike="noStrike" cap="none" normalizeH="0" baseline="0" dirty="0" err="1" smtClean="0">
                <a:ln>
                  <a:noFill/>
                </a:ln>
                <a:solidFill>
                  <a:schemeClr val="tx1"/>
                </a:solidFill>
                <a:effectLst/>
                <a:latin typeface="Arial" panose="020B0604020202020204" pitchFamily="34" charset="0"/>
              </a:rPr>
              <a:t>spaCy</a:t>
            </a:r>
            <a:r>
              <a:rPr kumimoji="0" lang="en-US" altLang="en-US" sz="1800" b="0" i="0" u="none" strike="noStrike" cap="none" normalizeH="0" baseline="0" dirty="0" smtClean="0">
                <a:ln>
                  <a:noFill/>
                </a:ln>
                <a:solidFill>
                  <a:schemeClr val="tx1"/>
                </a:solidFill>
                <a:effectLst/>
                <a:latin typeface="Arial" panose="020B0604020202020204" pitchFamily="34" charset="0"/>
              </a:rPr>
              <a:t> and NLTK.</a:t>
            </a:r>
          </a:p>
        </p:txBody>
      </p:sp>
    </p:spTree>
    <p:extLst>
      <p:ext uri="{BB962C8B-B14F-4D97-AF65-F5344CB8AC3E}">
        <p14:creationId xmlns:p14="http://schemas.microsoft.com/office/powerpoint/2010/main" val="2704332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30702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2 </a:t>
            </a:r>
            <a:r>
              <a:rPr lang="en-US" b="1" dirty="0" smtClean="0"/>
              <a:t>:      </a:t>
            </a:r>
            <a:r>
              <a:rPr lang="en-US" b="1" dirty="0" err="1" smtClean="0"/>
              <a:t>GloVe</a:t>
            </a:r>
            <a:r>
              <a:rPr lang="en-US" b="1" dirty="0" smtClean="0"/>
              <a:t> </a:t>
            </a:r>
            <a:r>
              <a:rPr lang="en-US" b="1" dirty="0"/>
              <a:t>(Global Vectors for Word Representation)</a:t>
            </a:r>
          </a:p>
        </p:txBody>
      </p:sp>
      <p:sp>
        <p:nvSpPr>
          <p:cNvPr id="4" name="Rectangle 1"/>
          <p:cNvSpPr>
            <a:spLocks noGrp="1" noChangeArrowheads="1"/>
          </p:cNvSpPr>
          <p:nvPr>
            <p:ph idx="1"/>
          </p:nvPr>
        </p:nvSpPr>
        <p:spPr bwMode="auto">
          <a:xfrm>
            <a:off x="945778" y="2731453"/>
            <a:ext cx="1063214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Count-based (Matrix Factorization)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Captures the global statistics of the corpus by constructing a co-occurrence matrix and factorizing it to generate word vectors.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Uses a global word-context matrix for training, providing better representations for infrequent words.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Pre-trained </a:t>
            </a:r>
            <a:r>
              <a:rPr kumimoji="0" lang="en-US" altLang="en-US" sz="1800" b="0" i="0" u="none" strike="noStrike" cap="none" normalizeH="0" baseline="0" dirty="0" err="1" smtClean="0">
                <a:ln>
                  <a:noFill/>
                </a:ln>
                <a:solidFill>
                  <a:schemeClr val="tx1"/>
                </a:solidFill>
                <a:effectLst/>
                <a:latin typeface="Arial" panose="020B0604020202020204" pitchFamily="34" charset="0"/>
              </a:rPr>
              <a:t>GloVe</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custom models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591459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3:  </a:t>
            </a:r>
            <a:r>
              <a:rPr lang="en-US" b="1" dirty="0" err="1" smtClean="0"/>
              <a:t>FastText</a:t>
            </a:r>
            <a:endParaRPr lang="en-US" b="1" dirty="0"/>
          </a:p>
        </p:txBody>
      </p:sp>
      <p:sp>
        <p:nvSpPr>
          <p:cNvPr id="4" name="Rectangle 1"/>
          <p:cNvSpPr>
            <a:spLocks noGrp="1" noChangeArrowheads="1"/>
          </p:cNvSpPr>
          <p:nvPr>
            <p:ph idx="1"/>
          </p:nvPr>
        </p:nvSpPr>
        <p:spPr bwMode="auto">
          <a:xfrm>
            <a:off x="1295401" y="2923740"/>
            <a:ext cx="1037664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Subword</a:t>
            </a:r>
            <a:r>
              <a:rPr kumimoji="0" lang="en-US" altLang="en-US" sz="1800" b="0" i="0" u="none" strike="noStrike" cap="none" normalizeH="0" baseline="0" dirty="0" smtClean="0">
                <a:ln>
                  <a:noFill/>
                </a:ln>
                <a:solidFill>
                  <a:schemeClr val="tx1"/>
                </a:solidFill>
                <a:effectLst/>
                <a:latin typeface="Arial" panose="020B0604020202020204" pitchFamily="34" charset="0"/>
              </a:rPr>
              <a:t>-based (Predictive)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Extends Word2Vec by considering </a:t>
            </a:r>
            <a:r>
              <a:rPr kumimoji="0" lang="en-US" altLang="en-US" sz="1800" b="0" i="0" u="none" strike="noStrike" cap="none" normalizeH="0" baseline="0" dirty="0" err="1" smtClean="0">
                <a:ln>
                  <a:noFill/>
                </a:ln>
                <a:solidFill>
                  <a:schemeClr val="tx1"/>
                </a:solidFill>
                <a:effectLst/>
                <a:latin typeface="Arial" panose="020B0604020202020204" pitchFamily="34" charset="0"/>
              </a:rPr>
              <a:t>subword</a:t>
            </a:r>
            <a:r>
              <a:rPr kumimoji="0" lang="en-US" altLang="en-US" sz="1800" b="0" i="0" u="none" strike="noStrike" cap="none" normalizeH="0" baseline="0" dirty="0" smtClean="0">
                <a:ln>
                  <a:noFill/>
                </a:ln>
                <a:solidFill>
                  <a:schemeClr val="tx1"/>
                </a:solidFill>
                <a:effectLst/>
                <a:latin typeface="Arial" panose="020B0604020202020204" pitchFamily="34" charset="0"/>
              </a:rPr>
              <a:t> information (character n-grams) to generate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making it useful for morphologically rich languages and out-of-vocabulary words.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If "</a:t>
            </a:r>
            <a:r>
              <a:rPr kumimoji="0" lang="en-US" altLang="en-US" sz="1800" b="0" i="0" u="none" strike="noStrike" cap="none" normalizeH="0" baseline="0" dirty="0" err="1" smtClean="0">
                <a:ln>
                  <a:noFill/>
                </a:ln>
                <a:solidFill>
                  <a:schemeClr val="tx1"/>
                </a:solidFill>
                <a:effectLst/>
                <a:latin typeface="Arial" panose="020B0604020202020204" pitchFamily="34" charset="0"/>
              </a:rPr>
              <a:t>newword</a:t>
            </a:r>
            <a:r>
              <a:rPr kumimoji="0" lang="en-US" altLang="en-US" sz="1800" b="0" i="0" u="none" strike="noStrike" cap="none" normalizeH="0" baseline="0" dirty="0" smtClean="0">
                <a:ln>
                  <a:noFill/>
                </a:ln>
                <a:solidFill>
                  <a:schemeClr val="tx1"/>
                </a:solidFill>
                <a:effectLst/>
                <a:latin typeface="Arial" panose="020B0604020202020204" pitchFamily="34" charset="0"/>
              </a:rPr>
              <a:t>" is unseen, </a:t>
            </a:r>
            <a:r>
              <a:rPr kumimoji="0" lang="en-US" altLang="en-US" sz="1800" b="0" i="0" u="none" strike="noStrike" cap="none" normalizeH="0" baseline="0" dirty="0" err="1" smtClean="0">
                <a:ln>
                  <a:noFill/>
                </a:ln>
                <a:solidFill>
                  <a:schemeClr val="tx1"/>
                </a:solidFill>
                <a:effectLst/>
                <a:latin typeface="Arial" panose="020B0604020202020204" pitchFamily="34" charset="0"/>
              </a:rPr>
              <a:t>FastText</a:t>
            </a:r>
            <a:r>
              <a:rPr kumimoji="0" lang="en-US" altLang="en-US" sz="1800" b="0" i="0" u="none" strike="noStrike" cap="none" normalizeH="0" baseline="0" dirty="0" smtClean="0">
                <a:ln>
                  <a:noFill/>
                </a:ln>
                <a:solidFill>
                  <a:schemeClr val="tx1"/>
                </a:solidFill>
                <a:effectLst/>
                <a:latin typeface="Arial" panose="020B0604020202020204" pitchFamily="34" charset="0"/>
              </a:rPr>
              <a:t> can use the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of "new" and "word" to generate an approximate vector.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Facebook's </a:t>
            </a:r>
            <a:r>
              <a:rPr kumimoji="0" lang="en-US" altLang="en-US" sz="1800" b="0" i="0" u="none" strike="noStrike" cap="none" normalizeH="0" baseline="0" dirty="0" err="1" smtClean="0">
                <a:ln>
                  <a:noFill/>
                </a:ln>
                <a:solidFill>
                  <a:schemeClr val="tx1"/>
                </a:solidFill>
                <a:effectLst/>
                <a:latin typeface="Arial" panose="020B0604020202020204" pitchFamily="34" charset="0"/>
              </a:rPr>
              <a:t>FastText</a:t>
            </a:r>
            <a:r>
              <a:rPr kumimoji="0" lang="en-US" altLang="en-US" sz="1800" b="0" i="0" u="none" strike="noStrike" cap="none" normalizeH="0" baseline="0" dirty="0" smtClean="0">
                <a:ln>
                  <a:noFill/>
                </a:ln>
                <a:solidFill>
                  <a:schemeClr val="tx1"/>
                </a:solidFill>
                <a:effectLst/>
                <a:latin typeface="Arial" panose="020B0604020202020204" pitchFamily="34" charset="0"/>
              </a:rPr>
              <a:t> library </a:t>
            </a:r>
          </a:p>
        </p:txBody>
      </p:sp>
    </p:spTree>
    <p:extLst>
      <p:ext uri="{BB962C8B-B14F-4D97-AF65-F5344CB8AC3E}">
        <p14:creationId xmlns:p14="http://schemas.microsoft.com/office/powerpoint/2010/main" val="27449978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4:  </a:t>
            </a:r>
            <a:r>
              <a:rPr lang="en-US" b="1" dirty="0" err="1" smtClean="0"/>
              <a:t>ELMo</a:t>
            </a:r>
            <a:r>
              <a:rPr lang="en-US" b="1" dirty="0" smtClean="0"/>
              <a:t> </a:t>
            </a:r>
            <a:r>
              <a:rPr lang="en-US" b="1" dirty="0"/>
              <a:t>(</a:t>
            </a:r>
            <a:r>
              <a:rPr lang="en-US" b="1" dirty="0" err="1"/>
              <a:t>Embeddings</a:t>
            </a:r>
            <a:r>
              <a:rPr lang="en-US" b="1" dirty="0"/>
              <a:t> from Language Models)</a:t>
            </a:r>
          </a:p>
        </p:txBody>
      </p:sp>
      <p:sp>
        <p:nvSpPr>
          <p:cNvPr id="4" name="Rectangle 1"/>
          <p:cNvSpPr>
            <a:spLocks noGrp="1" noChangeArrowheads="1"/>
          </p:cNvSpPr>
          <p:nvPr>
            <p:ph idx="1"/>
          </p:nvPr>
        </p:nvSpPr>
        <p:spPr bwMode="auto">
          <a:xfrm>
            <a:off x="1295400" y="2923740"/>
            <a:ext cx="1030941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Contextualized (Deep Learning, Bi-LSTM)</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Generates word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based on the context in which the word appears, providing different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for the same word depending on its usage.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The word "bank" will have different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based on whether it's referring to a financial institution or a riverbank.</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AllenNLP</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TensorFlow</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34828111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5: </a:t>
            </a:r>
            <a:r>
              <a:rPr lang="en-US" b="1" dirty="0"/>
              <a:t>BERT (Bidirectional Encoder Representations from Transformers)</a:t>
            </a:r>
          </a:p>
        </p:txBody>
      </p:sp>
      <p:sp>
        <p:nvSpPr>
          <p:cNvPr id="4" name="Rectangle 1"/>
          <p:cNvSpPr>
            <a:spLocks noGrp="1" noChangeArrowheads="1"/>
          </p:cNvSpPr>
          <p:nvPr>
            <p:ph idx="1"/>
          </p:nvPr>
        </p:nvSpPr>
        <p:spPr bwMode="auto">
          <a:xfrm>
            <a:off x="1295400" y="2923740"/>
            <a:ext cx="1016149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Contextualized (Deep Learning, Transformers)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Generates context-aware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by looking at the entire sentence </a:t>
            </a:r>
            <a:r>
              <a:rPr kumimoji="0" lang="en-US" altLang="en-US" sz="1800" b="0" i="0" u="none" strike="noStrike" cap="none" normalizeH="0" baseline="0" dirty="0" err="1" smtClean="0">
                <a:ln>
                  <a:noFill/>
                </a:ln>
                <a:solidFill>
                  <a:schemeClr val="tx1"/>
                </a:solidFill>
                <a:effectLst/>
                <a:latin typeface="Arial" panose="020B0604020202020204" pitchFamily="34" charset="0"/>
              </a:rPr>
              <a:t>bidirectionally</a:t>
            </a:r>
            <a:r>
              <a:rPr kumimoji="0" lang="en-US" altLang="en-US" sz="1800" b="0" i="0" u="none" strike="noStrike" cap="none" normalizeH="0" baseline="0" dirty="0" smtClean="0">
                <a:ln>
                  <a:noFill/>
                </a:ln>
                <a:solidFill>
                  <a:schemeClr val="tx1"/>
                </a:solidFill>
                <a:effectLst/>
                <a:latin typeface="Arial" panose="020B0604020202020204" pitchFamily="34" charset="0"/>
              </a:rPr>
              <a:t>. Each word embedding is influenced by the surrounding words, allowing for more nuanced understanding.</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The word "lead" will have different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in "lead the team" vs. "lead is toxic.“</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Hugging Face Transformers, </a:t>
            </a:r>
            <a:r>
              <a:rPr kumimoji="0" lang="en-US" altLang="en-US" sz="1800" b="0" i="0" u="none" strike="noStrike" cap="none" normalizeH="0" baseline="0" dirty="0" err="1" smtClean="0">
                <a:ln>
                  <a:noFill/>
                </a:ln>
                <a:solidFill>
                  <a:schemeClr val="tx1"/>
                </a:solidFill>
                <a:effectLst/>
                <a:latin typeface="Arial" panose="020B0604020202020204" pitchFamily="34" charset="0"/>
              </a:rPr>
              <a:t>TensorFlow</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PyTorch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2158124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6) </a:t>
            </a:r>
            <a:r>
              <a:rPr lang="en-US" b="1" dirty="0" smtClean="0"/>
              <a:t>Transformers </a:t>
            </a:r>
            <a:r>
              <a:rPr lang="en-US" b="1" dirty="0"/>
              <a:t>(GPT, </a:t>
            </a:r>
            <a:r>
              <a:rPr lang="en-US" b="1" dirty="0" err="1"/>
              <a:t>RoBERTa</a:t>
            </a:r>
            <a:r>
              <a:rPr lang="en-US" b="1" dirty="0"/>
              <a:t>, etc.)</a:t>
            </a:r>
          </a:p>
        </p:txBody>
      </p:sp>
      <p:sp>
        <p:nvSpPr>
          <p:cNvPr id="4" name="Rectangle 1"/>
          <p:cNvSpPr>
            <a:spLocks noGrp="1" noChangeArrowheads="1"/>
          </p:cNvSpPr>
          <p:nvPr>
            <p:ph idx="1"/>
          </p:nvPr>
        </p:nvSpPr>
        <p:spPr bwMode="auto">
          <a:xfrm>
            <a:off x="1295400" y="3062239"/>
            <a:ext cx="10336305"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Contextualized (Deep Learning, Transformers)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Similar to BERT, but different models use different architectures and training strategies to generate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based on the context and task.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GPT-3 or </a:t>
            </a:r>
            <a:r>
              <a:rPr kumimoji="0" lang="en-US" altLang="en-US" sz="1800" b="0" i="0" u="none" strike="noStrike" cap="none" normalizeH="0" baseline="0" dirty="0" err="1" smtClean="0">
                <a:ln>
                  <a:noFill/>
                </a:ln>
                <a:solidFill>
                  <a:schemeClr val="tx1"/>
                </a:solidFill>
                <a:effectLst/>
                <a:latin typeface="Arial" panose="020B0604020202020204" pitchFamily="34" charset="0"/>
              </a:rPr>
              <a:t>RoBERTa</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for text generation, classification, and more.</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Hugging Face, </a:t>
            </a:r>
            <a:r>
              <a:rPr kumimoji="0" lang="en-US" altLang="en-US" sz="1800" b="0" i="0" u="none" strike="noStrike" cap="none" normalizeH="0" baseline="0" dirty="0" err="1" smtClean="0">
                <a:ln>
                  <a:noFill/>
                </a:ln>
                <a:solidFill>
                  <a:schemeClr val="tx1"/>
                </a:solidFill>
                <a:effectLst/>
                <a:latin typeface="Arial" panose="020B0604020202020204" pitchFamily="34" charset="0"/>
              </a:rPr>
              <a:t>OpenAI</a:t>
            </a:r>
            <a:r>
              <a:rPr kumimoji="0" lang="en-US" altLang="en-US" sz="1800" b="0" i="0" u="none" strike="noStrike" cap="none" normalizeH="0" baseline="0" dirty="0" smtClean="0">
                <a:ln>
                  <a:noFill/>
                </a:ln>
                <a:solidFill>
                  <a:schemeClr val="tx1"/>
                </a:solidFill>
                <a:effectLst/>
                <a:latin typeface="Arial" panose="020B0604020202020204" pitchFamily="34" charset="0"/>
              </a:rPr>
              <a:t> GPT </a:t>
            </a:r>
          </a:p>
        </p:txBody>
      </p:sp>
    </p:spTree>
    <p:extLst>
      <p:ext uri="{BB962C8B-B14F-4D97-AF65-F5344CB8AC3E}">
        <p14:creationId xmlns:p14="http://schemas.microsoft.com/office/powerpoint/2010/main" val="29597619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7) </a:t>
            </a:r>
            <a:r>
              <a:rPr lang="en-US" b="1" dirty="0"/>
              <a:t>Deep Contextualized </a:t>
            </a:r>
            <a:r>
              <a:rPr lang="en-US" b="1" dirty="0" err="1"/>
              <a:t>Embeddings</a:t>
            </a:r>
            <a:r>
              <a:rPr lang="en-US" b="1" dirty="0"/>
              <a:t> (T5, </a:t>
            </a:r>
            <a:r>
              <a:rPr lang="en-US" b="1" dirty="0" err="1"/>
              <a:t>XLNet</a:t>
            </a:r>
            <a:r>
              <a:rPr lang="en-US" b="1" dirty="0"/>
              <a:t>, etc.)</a:t>
            </a:r>
            <a:endParaRPr lang="en-US" dirty="0"/>
          </a:p>
        </p:txBody>
      </p:sp>
      <p:sp>
        <p:nvSpPr>
          <p:cNvPr id="4" name="Rectangle 1"/>
          <p:cNvSpPr>
            <a:spLocks noGrp="1" noChangeArrowheads="1"/>
          </p:cNvSpPr>
          <p:nvPr>
            <p:ph idx="1"/>
          </p:nvPr>
        </p:nvSpPr>
        <p:spPr bwMode="auto">
          <a:xfrm>
            <a:off x="1295400" y="2923740"/>
            <a:ext cx="10255623"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Type</a:t>
            </a:r>
            <a:r>
              <a:rPr kumimoji="0" lang="en-US" altLang="en-US" sz="1800" b="0" i="0" u="none" strike="noStrike" cap="none" normalizeH="0" baseline="0" dirty="0" smtClean="0">
                <a:ln>
                  <a:noFill/>
                </a:ln>
                <a:solidFill>
                  <a:schemeClr val="tx1"/>
                </a:solidFill>
                <a:effectLst/>
                <a:latin typeface="Arial" panose="020B0604020202020204" pitchFamily="34" charset="0"/>
              </a:rPr>
              <a:t>: Contextualized (Deep Learning, Transformers)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Approach</a:t>
            </a:r>
            <a:r>
              <a:rPr kumimoji="0" lang="en-US" altLang="en-US" sz="1800" b="0" i="0" u="none" strike="noStrike" cap="none" normalizeH="0" baseline="0" dirty="0" smtClean="0">
                <a:ln>
                  <a:noFill/>
                </a:ln>
                <a:solidFill>
                  <a:schemeClr val="tx1"/>
                </a:solidFill>
                <a:effectLst/>
                <a:latin typeface="Arial" panose="020B0604020202020204" pitchFamily="34" charset="0"/>
              </a:rPr>
              <a:t>: Extensions of the transformer-based models that capture more advanced context and perform better in specific NLP tasks.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Example</a:t>
            </a:r>
            <a:r>
              <a:rPr kumimoji="0" lang="en-US" altLang="en-US" sz="1800" b="0" i="0" u="none" strike="noStrike" cap="none" normalizeH="0" baseline="0" dirty="0" smtClean="0">
                <a:ln>
                  <a:noFill/>
                </a:ln>
                <a:solidFill>
                  <a:schemeClr val="tx1"/>
                </a:solidFill>
                <a:effectLst/>
                <a:latin typeface="Arial" panose="020B0604020202020204" pitchFamily="34" charset="0"/>
              </a:rPr>
              <a:t>: Advanced sentence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or word </a:t>
            </a:r>
            <a:r>
              <a:rPr kumimoji="0" lang="en-US" altLang="en-US" sz="1800" b="0" i="0" u="none" strike="noStrike" cap="none" normalizeH="0" baseline="0" dirty="0" err="1" smtClean="0">
                <a:ln>
                  <a:noFill/>
                </a:ln>
                <a:solidFill>
                  <a:schemeClr val="tx1"/>
                </a:solidFill>
                <a:effectLst/>
                <a:latin typeface="Arial" panose="020B0604020202020204" pitchFamily="34" charset="0"/>
              </a:rPr>
              <a:t>embeddings</a:t>
            </a:r>
            <a:r>
              <a:rPr kumimoji="0" lang="en-US" altLang="en-US" sz="1800" b="0" i="0" u="none" strike="noStrike" cap="none" normalizeH="0" baseline="0" dirty="0" smtClean="0">
                <a:ln>
                  <a:noFill/>
                </a:ln>
                <a:solidFill>
                  <a:schemeClr val="tx1"/>
                </a:solidFill>
                <a:effectLst/>
                <a:latin typeface="Arial" panose="020B0604020202020204" pitchFamily="34" charset="0"/>
              </a:rPr>
              <a:t> that factor in complex interactions between words.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Tools</a:t>
            </a:r>
            <a:r>
              <a:rPr kumimoji="0" lang="en-US" altLang="en-US" sz="1800" b="0" i="0" u="none" strike="noStrike" cap="none" normalizeH="0" baseline="0" dirty="0" smtClean="0">
                <a:ln>
                  <a:noFill/>
                </a:ln>
                <a:solidFill>
                  <a:schemeClr val="tx1"/>
                </a:solidFill>
                <a:effectLst/>
                <a:latin typeface="Arial" panose="020B0604020202020204" pitchFamily="34" charset="0"/>
              </a:rPr>
              <a:t>: Hugging Face, </a:t>
            </a:r>
            <a:r>
              <a:rPr kumimoji="0" lang="en-US" altLang="en-US" sz="1800" b="0" i="0" u="none" strike="noStrike" cap="none" normalizeH="0" baseline="0" dirty="0" err="1" smtClean="0">
                <a:ln>
                  <a:noFill/>
                </a:ln>
                <a:solidFill>
                  <a:schemeClr val="tx1"/>
                </a:solidFill>
                <a:effectLst/>
                <a:latin typeface="Arial" panose="020B0604020202020204" pitchFamily="34" charset="0"/>
              </a:rPr>
              <a:t>TensorFlow</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kumimoji="0" lang="en-US" altLang="en-US" sz="1800" b="0" i="0" u="none" strike="noStrike" cap="none" normalizeH="0" baseline="0" dirty="0" err="1" smtClean="0">
                <a:ln>
                  <a:noFill/>
                </a:ln>
                <a:solidFill>
                  <a:schemeClr val="tx1"/>
                </a:solidFill>
                <a:effectLst/>
                <a:latin typeface="Arial" panose="020B0604020202020204" pitchFamily="34" charset="0"/>
              </a:rPr>
              <a:t>PyTorch</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12364177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Summary</a:t>
            </a:r>
            <a:br>
              <a:rPr lang="en-US" b="1" dirty="0"/>
            </a:br>
            <a:endParaRPr lang="en-US" dirty="0"/>
          </a:p>
        </p:txBody>
      </p:sp>
      <p:sp>
        <p:nvSpPr>
          <p:cNvPr id="3" name="Content Placeholder 2"/>
          <p:cNvSpPr>
            <a:spLocks noGrp="1"/>
          </p:cNvSpPr>
          <p:nvPr>
            <p:ph idx="1"/>
          </p:nvPr>
        </p:nvSpPr>
        <p:spPr/>
        <p:txBody>
          <a:bodyPr/>
          <a:lstStyle/>
          <a:p>
            <a:r>
              <a:rPr lang="en-US" b="1" dirty="0"/>
              <a:t>Predictive Models</a:t>
            </a:r>
            <a:r>
              <a:rPr lang="en-US" dirty="0"/>
              <a:t>: Word2Vec, </a:t>
            </a:r>
            <a:r>
              <a:rPr lang="en-US" dirty="0" err="1"/>
              <a:t>FastText</a:t>
            </a:r>
            <a:endParaRPr lang="en-US" dirty="0"/>
          </a:p>
          <a:p>
            <a:r>
              <a:rPr lang="en-US" b="1" dirty="0"/>
              <a:t>Count-based Models</a:t>
            </a:r>
            <a:r>
              <a:rPr lang="en-US" dirty="0"/>
              <a:t>: </a:t>
            </a:r>
            <a:r>
              <a:rPr lang="en-US" dirty="0" err="1"/>
              <a:t>GloVe</a:t>
            </a:r>
            <a:endParaRPr lang="en-US" dirty="0"/>
          </a:p>
          <a:p>
            <a:r>
              <a:rPr lang="en-US" b="1" dirty="0"/>
              <a:t>Contextualized Models</a:t>
            </a:r>
            <a:r>
              <a:rPr lang="en-US" dirty="0"/>
              <a:t>: </a:t>
            </a:r>
            <a:r>
              <a:rPr lang="en-US" dirty="0" err="1"/>
              <a:t>ELMo</a:t>
            </a:r>
            <a:r>
              <a:rPr lang="en-US" dirty="0"/>
              <a:t>, BERT, GPT</a:t>
            </a:r>
          </a:p>
          <a:p>
            <a:r>
              <a:rPr lang="en-US" dirty="0"/>
              <a:t>Each technique varies in how it handles word semantics, context, and the size of the dataset required for training.</a:t>
            </a:r>
          </a:p>
          <a:p>
            <a:endParaRPr lang="en-US" dirty="0"/>
          </a:p>
        </p:txBody>
      </p:sp>
    </p:spTree>
    <p:extLst>
      <p:ext uri="{BB962C8B-B14F-4D97-AF65-F5344CB8AC3E}">
        <p14:creationId xmlns:p14="http://schemas.microsoft.com/office/powerpoint/2010/main" val="27823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code</a:t>
            </a:r>
            <a:endParaRPr lang="en-US" dirty="0"/>
          </a:p>
        </p:txBody>
      </p:sp>
      <p:sp>
        <p:nvSpPr>
          <p:cNvPr id="3" name="Content Placeholder 2"/>
          <p:cNvSpPr>
            <a:spLocks noGrp="1"/>
          </p:cNvSpPr>
          <p:nvPr>
            <p:ph idx="1"/>
          </p:nvPr>
        </p:nvSpPr>
        <p:spPr/>
        <p:txBody>
          <a:bodyPr/>
          <a:lstStyle/>
          <a:p>
            <a:r>
              <a:rPr lang="en-US" dirty="0">
                <a:hlinkClick r:id="rId2"/>
              </a:rPr>
              <a:t>https://</a:t>
            </a:r>
            <a:r>
              <a:rPr lang="en-US" dirty="0" smtClean="0">
                <a:hlinkClick r:id="rId2"/>
              </a:rPr>
              <a:t>www.kaggle.com/code/talhaahmed9090/vectorization-using-word-embedding</a:t>
            </a:r>
            <a:endParaRPr lang="en-US" dirty="0" smtClean="0"/>
          </a:p>
          <a:p>
            <a:r>
              <a:rPr lang="en-US" dirty="0"/>
              <a:t>https://www.kaggle.com/code/talhaahmed9090/vectorization-using-tf-idf</a:t>
            </a:r>
          </a:p>
        </p:txBody>
      </p:sp>
    </p:spTree>
    <p:extLst>
      <p:ext uri="{BB962C8B-B14F-4D97-AF65-F5344CB8AC3E}">
        <p14:creationId xmlns:p14="http://schemas.microsoft.com/office/powerpoint/2010/main" val="3555491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Transformer</a:t>
            </a:r>
          </a:p>
        </p:txBody>
      </p:sp>
      <p:sp>
        <p:nvSpPr>
          <p:cNvPr id="3" name="Content Placeholder 2"/>
          <p:cNvSpPr>
            <a:spLocks noGrp="1"/>
          </p:cNvSpPr>
          <p:nvPr>
            <p:ph idx="1"/>
          </p:nvPr>
        </p:nvSpPr>
        <p:spPr/>
        <p:txBody>
          <a:bodyPr/>
          <a:lstStyle/>
          <a:p>
            <a:r>
              <a:rPr lang="en-US" b="1" dirty="0"/>
              <a:t>Transformer</a:t>
            </a:r>
            <a:r>
              <a:rPr lang="en-US" dirty="0"/>
              <a:t>: A transformer is a deep learning model that utilizes a mechanism called self-attention to weigh the significance of different words in a sentence relative to one another, allowing it to capture contextual relationships efficiently. Unlike previous sequential models, transformers process input data in parallel, significantly improving training speed and performance on tasks such as translation, summarization, and text generation.</a:t>
            </a:r>
          </a:p>
        </p:txBody>
      </p:sp>
    </p:spTree>
    <p:extLst>
      <p:ext uri="{BB962C8B-B14F-4D97-AF65-F5344CB8AC3E}">
        <p14:creationId xmlns:p14="http://schemas.microsoft.com/office/powerpoint/2010/main" val="23326290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Key Features</a:t>
            </a:r>
            <a:br>
              <a:rPr lang="en-US" b="1" dirty="0"/>
            </a:br>
            <a:endParaRPr lang="en-US" dirty="0"/>
          </a:p>
        </p:txBody>
      </p:sp>
      <p:sp>
        <p:nvSpPr>
          <p:cNvPr id="4" name="Rectangle 1"/>
          <p:cNvSpPr>
            <a:spLocks noGrp="1" noChangeArrowheads="1"/>
          </p:cNvSpPr>
          <p:nvPr>
            <p:ph idx="1"/>
          </p:nvPr>
        </p:nvSpPr>
        <p:spPr bwMode="auto">
          <a:xfrm>
            <a:off x="1295401" y="2092741"/>
            <a:ext cx="10421982"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Self-Attention Mechanism</a:t>
            </a:r>
            <a:r>
              <a:rPr kumimoji="0" lang="en-US" altLang="en-US" sz="1800" b="0" i="0" u="none" strike="noStrike" cap="none" normalizeH="0" baseline="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This allows the model to consider the relevance of all words in the input sequence when generating a representation for each word. It helps the model focus on important parts of the input when making predictions.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Positional Encoding</a:t>
            </a:r>
            <a:r>
              <a:rPr kumimoji="0" lang="en-US" altLang="en-US" sz="1800" b="0" i="0" u="none" strike="noStrike" cap="none" normalizeH="0" baseline="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Since transformers do not process data sequentially (like RNNs), they incorporate positional encodings to retain information about the order of words in the sequence.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Encoder-Decoder Architecture</a:t>
            </a:r>
            <a:r>
              <a:rPr kumimoji="0" lang="en-US" altLang="en-US" sz="1800" b="0" i="0" u="none" strike="noStrike" cap="none" normalizeH="0" baseline="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The transformer consists of an encoder that processes the input and a decoder that generates the output. Each consists of multiple layers that include multi-head attention and feed-forward neural networks.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smtClean="0">
                <a:ln>
                  <a:noFill/>
                </a:ln>
                <a:solidFill>
                  <a:schemeClr val="tx1"/>
                </a:solidFill>
                <a:effectLst/>
                <a:latin typeface="Arial" panose="020B0604020202020204" pitchFamily="34" charset="0"/>
              </a:rPr>
              <a:t>Parallel Processing</a:t>
            </a:r>
            <a:r>
              <a:rPr kumimoji="0" lang="en-US" altLang="en-US" sz="1800" b="0" i="0" u="none" strike="noStrike" cap="none" normalizeH="0" baseline="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smtClean="0">
                <a:ln>
                  <a:noFill/>
                </a:ln>
                <a:solidFill>
                  <a:schemeClr val="tx1"/>
                </a:solidFill>
                <a:effectLst/>
                <a:latin typeface="Arial" panose="020B0604020202020204" pitchFamily="34" charset="0"/>
              </a:rPr>
              <a:t>Transformers can process all words in a sequence simultaneously, allowing for faster training and more efficient use of computational resources compared to sequential models.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18826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APPLICATIONS</a:t>
            </a:r>
            <a:endParaRPr lang="en-US" dirty="0"/>
          </a:p>
        </p:txBody>
      </p:sp>
      <p:sp>
        <p:nvSpPr>
          <p:cNvPr id="4" name="Rectangle 1"/>
          <p:cNvSpPr>
            <a:spLocks noGrp="1" noChangeArrowheads="1"/>
          </p:cNvSpPr>
          <p:nvPr>
            <p:ph idx="1"/>
          </p:nvPr>
        </p:nvSpPr>
        <p:spPr bwMode="auto">
          <a:xfrm>
            <a:off x="1295401" y="3200738"/>
            <a:ext cx="9899468"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Machine Translation</a:t>
            </a:r>
            <a:r>
              <a:rPr kumimoji="0" lang="en-US" altLang="en-US" sz="1800" b="0" i="0" u="none" strike="noStrike" cap="none" normalizeH="0" baseline="0" dirty="0" smtClean="0">
                <a:ln>
                  <a:noFill/>
                </a:ln>
                <a:solidFill>
                  <a:schemeClr val="tx1"/>
                </a:solidFill>
                <a:effectLst/>
                <a:latin typeface="Arial" panose="020B0604020202020204" pitchFamily="34" charset="0"/>
              </a:rPr>
              <a:t> (e.g., translating text from one language to another)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Text Summarization</a:t>
            </a:r>
            <a:r>
              <a:rPr kumimoji="0" lang="en-US" altLang="en-US" sz="1800" b="0" i="0" u="none" strike="noStrike" cap="none" normalizeH="0" baseline="0" dirty="0" smtClean="0">
                <a:ln>
                  <a:noFill/>
                </a:ln>
                <a:solidFill>
                  <a:schemeClr val="tx1"/>
                </a:solidFill>
                <a:effectLst/>
                <a:latin typeface="Arial" panose="020B0604020202020204" pitchFamily="34" charset="0"/>
              </a:rPr>
              <a:t> (e.g., generating concise summaries of long documents)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Question Answering</a:t>
            </a:r>
            <a:r>
              <a:rPr kumimoji="0" lang="en-US" altLang="en-US" sz="1800" b="0" i="0" u="none" strike="noStrike" cap="none" normalizeH="0" baseline="0" dirty="0" smtClean="0">
                <a:ln>
                  <a:noFill/>
                </a:ln>
                <a:solidFill>
                  <a:schemeClr val="tx1"/>
                </a:solidFill>
                <a:effectLst/>
                <a:latin typeface="Arial" panose="020B0604020202020204" pitchFamily="34" charset="0"/>
              </a:rPr>
              <a:t> (e.g., answering questions based on given text)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Text Generation</a:t>
            </a:r>
            <a:r>
              <a:rPr kumimoji="0" lang="en-US" altLang="en-US" sz="1800" b="0" i="0" u="none" strike="noStrike" cap="none" normalizeH="0" baseline="0" dirty="0" smtClean="0">
                <a:ln>
                  <a:noFill/>
                </a:ln>
                <a:solidFill>
                  <a:schemeClr val="tx1"/>
                </a:solidFill>
                <a:effectLst/>
                <a:latin typeface="Arial" panose="020B0604020202020204" pitchFamily="34" charset="0"/>
              </a:rPr>
              <a:t> (e.g., generating coherent and contextually relevant text </a:t>
            </a:r>
          </a:p>
        </p:txBody>
      </p:sp>
    </p:spTree>
    <p:extLst>
      <p:ext uri="{BB962C8B-B14F-4D97-AF65-F5344CB8AC3E}">
        <p14:creationId xmlns:p14="http://schemas.microsoft.com/office/powerpoint/2010/main" val="2904158503"/>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335</TotalTime>
  <Words>1354</Words>
  <Application>Microsoft Office PowerPoint</Application>
  <PresentationFormat>Widescreen</PresentationFormat>
  <Paragraphs>142</Paragraphs>
  <Slides>23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Garamond</vt:lpstr>
      <vt:lpstr>Organic</vt:lpstr>
      <vt:lpstr>Vectorization  </vt:lpstr>
      <vt:lpstr>TF/IDF</vt:lpstr>
      <vt:lpstr>Term Frequency (TF)</vt:lpstr>
      <vt:lpstr>Term Frequency (TF)</vt:lpstr>
      <vt:lpstr>TF-IDF Example Calculation</vt:lpstr>
      <vt:lpstr>Step-by-Step Example:</vt:lpstr>
      <vt:lpstr>Matrix of TF/IDF SCORE</vt:lpstr>
      <vt:lpstr>Word Embeding </vt:lpstr>
      <vt:lpstr>1. Word2Vec</vt:lpstr>
      <vt:lpstr>Gensim</vt:lpstr>
      <vt:lpstr>Key Features </vt:lpstr>
      <vt:lpstr>PowerPoint Presentation</vt:lpstr>
      <vt:lpstr>2 :      GloVe (Global Vectors for Word Representation)</vt:lpstr>
      <vt:lpstr>3:  FastText</vt:lpstr>
      <vt:lpstr>4:  ELMo (Embeddings from Language Models)</vt:lpstr>
      <vt:lpstr>5: BERT (Bidirectional Encoder Representations from Transformers)</vt:lpstr>
      <vt:lpstr>6) Transformers (GPT, RoBERTa, etc.)</vt:lpstr>
      <vt:lpstr>7) Deep Contextualized Embeddings (T5, XLNet, etc.)</vt:lpstr>
      <vt:lpstr>Summary </vt:lpstr>
      <vt:lpstr>code</vt:lpstr>
      <vt:lpstr>Definition of Transformer</vt:lpstr>
      <vt:lpstr>Key Features </vt:lpstr>
      <vt:lpstr>APPLICATIONS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TF/IDF</dc:title>
  <dc:creator>Talha Ahmed</dc:creator>
  <cp:lastModifiedBy>Talha Ahmed</cp:lastModifiedBy>
  <cp:revision>9</cp:revision>
  <dcterms:created xsi:type="dcterms:W3CDTF">2024-09-11T09:27:10Z</dcterms:created>
  <dcterms:modified xsi:type="dcterms:W3CDTF">2024-11-27T12:20:06Z</dcterms:modified>
</cp:coreProperties>
</file>